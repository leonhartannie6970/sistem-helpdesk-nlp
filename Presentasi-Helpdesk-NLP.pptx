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-914400"/>
            <a:ext cx="3200400" cy="3200400"/>
          </a:xfrm>
          <a:prstGeom prst="ellipse">
            <a:avLst/>
          </a:prstGeom>
          <a:solidFill>
            <a:srgbClr val="2563EB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731520" y="4572000"/>
            <a:ext cx="2286000" cy="2286000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914400"/>
            <a:ext cx="393192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914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SISTEM HELPDESK OTOMATIS — TUGAS AKHIR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Sistem Helpdesk Berbasis NLP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389120" y="2651760"/>
            <a:ext cx="3383280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889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FDBFE"/>
                </a:solidFill>
              </a:rPr>
              <a:t>Klasifikasi &amp; Routing Tiket Otomatis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FDBFE"/>
                </a:solidFill>
              </a:rPr>
              <a:t>menggunakan Natural Language Processing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63040" y="4754880"/>
            <a:ext cx="2926080" cy="685800"/>
          </a:xfrm>
          <a:prstGeom prst="roundRect">
            <a:avLst>
              <a:gd name="adj" fmla="val 13333"/>
            </a:avLst>
          </a:prstGeom>
          <a:solidFill>
            <a:srgbClr val="1D4ED8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47548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👤  Dwiky Setiawan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4754880"/>
            <a:ext cx="2926080" cy="685800"/>
          </a:xfrm>
          <a:prstGeom prst="roundRect">
            <a:avLst>
              <a:gd name="adj" fmla="val 13333"/>
            </a:avLst>
          </a:prstGeom>
          <a:solidFill>
            <a:srgbClr val="1D4ED8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47548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🏛️  Tugas Akhir / Skripsi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4754880"/>
            <a:ext cx="2926080" cy="685800"/>
          </a:xfrm>
          <a:prstGeom prst="roundRect">
            <a:avLst>
              <a:gd name="adj" fmla="val 13333"/>
            </a:avLst>
          </a:prstGeom>
          <a:solidFill>
            <a:srgbClr val="1D4ED8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47548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📅  2026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5760720"/>
            <a:ext cx="1965960" cy="347472"/>
          </a:xfrm>
          <a:prstGeom prst="roundRect">
            <a:avLst>
              <a:gd name="adj" fmla="val 15789"/>
            </a:avLst>
          </a:prstGeom>
          <a:solidFill>
            <a:srgbClr val="1E40A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7607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Next.js 15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63240" y="5760720"/>
            <a:ext cx="1965960" cy="347472"/>
          </a:xfrm>
          <a:prstGeom prst="roundRect">
            <a:avLst>
              <a:gd name="adj" fmla="val 15789"/>
            </a:avLst>
          </a:prstGeom>
          <a:solidFill>
            <a:srgbClr val="1E40A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57607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React 19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0" y="5760720"/>
            <a:ext cx="1965960" cy="347472"/>
          </a:xfrm>
          <a:prstGeom prst="roundRect">
            <a:avLst>
              <a:gd name="adj" fmla="val 15789"/>
            </a:avLst>
          </a:prstGeom>
          <a:solidFill>
            <a:srgbClr val="1E40A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57607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MySQL / TiDB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43800" y="5760720"/>
            <a:ext cx="1965960" cy="347472"/>
          </a:xfrm>
          <a:prstGeom prst="roundRect">
            <a:avLst>
              <a:gd name="adj" fmla="val 15789"/>
            </a:avLst>
          </a:prstGeom>
          <a:solidFill>
            <a:srgbClr val="1E40A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57607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Vercel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784080" y="5760720"/>
            <a:ext cx="1965960" cy="347472"/>
          </a:xfrm>
          <a:prstGeom prst="roundRect">
            <a:avLst>
              <a:gd name="adj" fmla="val 15789"/>
            </a:avLst>
          </a:prstGeom>
          <a:solidFill>
            <a:srgbClr val="1E40A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0" y="57607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NLP Classifier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Latar Belakang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Mengapa sistem ini dibutuhkan?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Di banyak perusahaan, penanganan permintaan bantuan (helpdesk) masih dilakukan secara manual — menyebabkan keterlambatan dan kesalahan routing.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5623560" cy="1691640"/>
          </a:xfrm>
          <a:prstGeom prst="roundRect">
            <a:avLst>
              <a:gd name="adj" fmla="val 648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⏱️  Lambat &amp; Manual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Staf harus membaca satu per satu tiket dan menentukan divisi tujuan secara manual, memakan waktu dan tenaga.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623560" cy="1691640"/>
          </a:xfrm>
          <a:prstGeom prst="roundRect">
            <a:avLst>
              <a:gd name="adj" fmla="val 648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965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❌  Sering Salah Arah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233172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Tiket sering dikirim ke divisi yang tidak tepat, sehingga harus dioper ulang dan respons menjadi lambat.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749040"/>
            <a:ext cx="5623560" cy="1691640"/>
          </a:xfrm>
          <a:prstGeom prst="roundRect">
            <a:avLst>
              <a:gd name="adj" fmla="val 648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86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📋  Sulit Dipantau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5196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Tidak ada sistem terpusat untuk memantau status tiket secara real-time, progres sering tidak jelas.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3749040"/>
            <a:ext cx="5623560" cy="1691640"/>
          </a:xfrm>
          <a:prstGeom prst="roundRect">
            <a:avLst>
              <a:gd name="adj" fmla="val 648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886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🔔  Tanpa Notifikasi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425196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Tidak ada pemberitahuan otomatis saat tiket diterima atau diselesaikan, sehingga komunikasi tidak efisien.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806440"/>
            <a:ext cx="12192000" cy="7315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58064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Solusi: Sistem Helpdesk Otomatis berbasis NLP yang mengklasifikasi dan mengarahkan tiket secara cerdas &amp; real-time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Tujuan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Apa yang ingin dicapai dari project ini?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1188720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2344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Klasifikasi Tiket Otomatis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152704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Membangun sistem yang mampu menganalisis isi tiket dan menentukan kategori serta divisi tujuan secara otomatis menggunakan NLP.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231136"/>
            <a:ext cx="502920" cy="5029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2311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2139696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185416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Routing Cerdas ke Divisi yang Tepat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478024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Tiket yang masuk langsung diarahkan ke divisi yang sesuai (IT, Keuangan, Operasional, dll.) tanpa campur tangan manual.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182112"/>
            <a:ext cx="502920" cy="50292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182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0" y="3090672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136392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Transparansi &amp; Kemudahan Pemantauan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3429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Menyediakan dashboard real-time untuk memantau status tiket, riwayat komunikasi, dan laporan per divisi.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133088"/>
            <a:ext cx="502920" cy="502920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133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5840" y="4041648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4087368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</a:rPr>
              <a:t>Aksesibilitas Multi-Peran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3000" y="4379976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Sistem dapat diakses oleh 3 peran berbeda — User, Admin divisi, dan Super Admin — masing-masing dengan hak akses yang tepat.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5084064"/>
            <a:ext cx="502920" cy="50292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50840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05840" y="4992624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5038344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</a:rPr>
              <a:t>Notifikasi Real-Time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3000" y="533095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Pengguna dan admin mendapat notifikasi otomatis saat tiket dikirim, diproses, atau diselesaikan.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Fitur Utama Sistem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Apa saja yang bisa dilakukan oleh sistem ini?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234440"/>
            <a:ext cx="5669280" cy="16002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71600"/>
            <a:ext cx="502920" cy="50292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Klasifikasi NLP Otomatis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Teks tiket dianalisis menggunakan keyword matching berbahasa Indonesia &amp; Inggris. Sistem menentukan kategori (IT, Keuangan, Operasional, dll.) dengan skor kepercayaan (confidence).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5669280" cy="16002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371600"/>
            <a:ext cx="502920" cy="50292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Routing Tiket ke Divisi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17830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Berdasarkan hasil NLP, tiket dikirim ke divisi tujuan yang tepat. Bisa juga multi-divisi (tiket dikirim ke lebih dari satu divisi).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5669280" cy="16002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154680"/>
            <a:ext cx="502920" cy="50292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154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Komentar &amp; Upload Bukti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5661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Admin dapat merespons tiket dengan komentar dan melampirkan foto bukti penyelesaian. User juga bisa membalas dan menutup tiket.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3017520"/>
            <a:ext cx="5669280" cy="16002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3154680"/>
            <a:ext cx="502920" cy="50292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9440" y="3154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Dashboard &amp; Statistik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35661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Setiap peran memiliki dashboard dengan statistik tiket: jumlah baru, diproses, selesai, dan grafik tren per periode.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800600"/>
            <a:ext cx="5669280" cy="16002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4937760"/>
            <a:ext cx="502920" cy="50292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5840" y="4937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Export Laporan PDF &amp; Excel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53492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Admin bisa mengunduh laporan tiket dalam format PDF (menggunakan jsPDF) atau Excel (ExcelJS) dengan nomor tiket terformat DIR-001, IT-003, dll.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4800600"/>
            <a:ext cx="5669280" cy="16002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4937760"/>
            <a:ext cx="502920" cy="50292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49440" y="4937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Notifikasi Otomatis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55080" y="53492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Sistem secara otomatis mengirim notifikasi ke user saat status tiket berubah, dan ke admin saat ada tiket masuk baru.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Teknologi yang Digunakan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Stack teknologi dan arsitektur sistem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43000"/>
            <a:ext cx="3749040" cy="4114800"/>
          </a:xfrm>
          <a:prstGeom prst="roundRect">
            <a:avLst>
              <a:gd name="adj" fmla="val 2927"/>
            </a:avLst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3383280" cy="411480"/>
          </a:xfrm>
          <a:prstGeom prst="roundRect">
            <a:avLst>
              <a:gd name="adj" fmla="val 13333"/>
            </a:avLst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83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</a:rPr>
              <a:t>▸  Next.js 15 + React 19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404872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0487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</a:rPr>
              <a:t>▸  TypeScript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026664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2666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</a:rPr>
              <a:t>▸  Tailwind CSS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648456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4845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</a:rPr>
              <a:t>▸  Shadcn/ui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270248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2702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</a:rPr>
              <a:t>▸  Recharts (grafik)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97680" y="1143000"/>
            <a:ext cx="3749040" cy="4114800"/>
          </a:xfrm>
          <a:prstGeom prst="roundRect">
            <a:avLst>
              <a:gd name="adj" fmla="val 2927"/>
            </a:avLst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1234440"/>
            <a:ext cx="3383280" cy="411480"/>
          </a:xfrm>
          <a:prstGeom prst="roundRect">
            <a:avLst>
              <a:gd name="adj" fmla="val 13333"/>
            </a:avLst>
          </a:prstGeom>
          <a:solidFill>
            <a:srgbClr val="065F46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1234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 / API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26280" y="178308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783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▸  Next.js API Routes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26280" y="2404872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40487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▸  JWT Authentication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26280" y="3026664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302666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▸  bcryptjs (enkripsi kata sandi)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26280" y="3648456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364845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▸  ExcelJS + jsPDF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26280" y="4270248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42702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▸  Vercel Blob (upload file)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321040" y="1143000"/>
            <a:ext cx="3749040" cy="4114800"/>
          </a:xfrm>
          <a:prstGeom prst="roundRect">
            <a:avLst>
              <a:gd name="adj" fmla="val 2927"/>
            </a:avLst>
          </a:prstGeom>
          <a:solidFill>
            <a:srgbClr val="FEF3C7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1234440"/>
            <a:ext cx="3383280" cy="411480"/>
          </a:xfrm>
          <a:prstGeom prst="roundRect">
            <a:avLst>
              <a:gd name="adj" fmla="val 13333"/>
            </a:avLst>
          </a:prstGeom>
          <a:solidFill>
            <a:srgbClr val="7C2D12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1234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 &amp; CLOUD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49640" y="178308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41080" y="1783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2D12"/>
                </a:solidFill>
              </a:rPr>
              <a:t>▸  MySQL / TiDB Cloud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549640" y="2404872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41080" y="240487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2D12"/>
                </a:solidFill>
              </a:rPr>
              <a:t>▸  NLP Classifier (JS)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549640" y="3026664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41080" y="302666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2D12"/>
                </a:solidFill>
              </a:rPr>
              <a:t>▸  Vercel (deploy)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549640" y="3648456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41080" y="364845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2D12"/>
                </a:solidFill>
              </a:rPr>
              <a:t>▸  Domain publik HTTPS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0040" y="5440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Alur Data →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580644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5806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 buat tiket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331720" y="58064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2624328" y="580644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/>
        </p:spPr>
      </p:sp>
      <p:sp>
        <p:nvSpPr>
          <p:cNvPr id="49" name="Text 47"/>
          <p:cNvSpPr/>
          <p:nvPr/>
        </p:nvSpPr>
        <p:spPr>
          <a:xfrm>
            <a:off x="2624328" y="5806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NLP klasifikasi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81728" y="58064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974336" y="580644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/>
        </p:spPr>
      </p:sp>
      <p:sp>
        <p:nvSpPr>
          <p:cNvPr id="52" name="Text 50"/>
          <p:cNvSpPr/>
          <p:nvPr/>
        </p:nvSpPr>
        <p:spPr>
          <a:xfrm>
            <a:off x="4974336" y="5806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Routing ke divisi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031736" y="58064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324344" y="580644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/>
        </p:spPr>
      </p:sp>
      <p:sp>
        <p:nvSpPr>
          <p:cNvPr id="55" name="Text 53"/>
          <p:cNvSpPr/>
          <p:nvPr/>
        </p:nvSpPr>
        <p:spPr>
          <a:xfrm>
            <a:off x="7324344" y="5806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 respons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381744" y="58064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9674352" y="580644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/>
        </p:spPr>
      </p:sp>
      <p:sp>
        <p:nvSpPr>
          <p:cNvPr id="58" name="Text 56"/>
          <p:cNvSpPr/>
          <p:nvPr/>
        </p:nvSpPr>
        <p:spPr>
          <a:xfrm>
            <a:off x="9674352" y="5806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Tiket selesai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Cara Kerja NLP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Bagaimana sistem mengklasifikasi tiket secara otomatis?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2240280" cy="4114800"/>
          </a:xfrm>
          <a:prstGeom prst="roundRect">
            <a:avLst>
              <a:gd name="adj" fmla="val 4898"/>
            </a:avLst>
          </a:prstGeom>
          <a:solidFill>
            <a:srgbClr val="F3F4F6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280160"/>
            <a:ext cx="685800" cy="6858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280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Terima Teks Tiket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697480"/>
            <a:ext cx="2057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User mengetik judul dan deskripsi masalah. Contoh: "Laptop saya tidak bisa menyala, layar gelap."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68880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70048" y="1188720"/>
            <a:ext cx="2240280" cy="4114800"/>
          </a:xfrm>
          <a:prstGeom prst="roundRect">
            <a:avLst>
              <a:gd name="adj" fmla="val 4898"/>
            </a:avLst>
          </a:prstGeom>
          <a:solidFill>
            <a:srgbClr val="F3F4F6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47288" y="1280160"/>
            <a:ext cx="685800" cy="68580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5" name="Text 13"/>
          <p:cNvSpPr/>
          <p:nvPr/>
        </p:nvSpPr>
        <p:spPr>
          <a:xfrm>
            <a:off x="3447288" y="1280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61488" y="205740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Normalisasi Teks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61488" y="2697480"/>
            <a:ext cx="2057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Teks diubah ke huruf kecil, dihapus karakter khusus. Siap untuk diproses lebih lanjut.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64608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65776" y="1188720"/>
            <a:ext cx="2240280" cy="4114800"/>
          </a:xfrm>
          <a:prstGeom prst="roundRect">
            <a:avLst>
              <a:gd name="adj" fmla="val 4898"/>
            </a:avLst>
          </a:prstGeom>
          <a:solidFill>
            <a:srgbClr val="F3F4F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43016" y="1280160"/>
            <a:ext cx="685800" cy="6858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1" name="Text 19"/>
          <p:cNvSpPr/>
          <p:nvPr/>
        </p:nvSpPr>
        <p:spPr>
          <a:xfrm>
            <a:off x="5843016" y="1280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57216" y="205740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Pencocokan Kata Kunci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57216" y="2697480"/>
            <a:ext cx="2057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Setiap kata dicocokkan dengan kamus kata kunci per kategori: IT, Keuangan, Operasional, Sales, dll.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61504" y="1188720"/>
            <a:ext cx="2240280" cy="4114800"/>
          </a:xfrm>
          <a:prstGeom prst="roundRect">
            <a:avLst>
              <a:gd name="adj" fmla="val 4898"/>
            </a:avLst>
          </a:prstGeom>
          <a:solidFill>
            <a:srgbClr val="F3F4F6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38744" y="1280160"/>
            <a:ext cx="685800" cy="685800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27" name="Text 25"/>
          <p:cNvSpPr/>
          <p:nvPr/>
        </p:nvSpPr>
        <p:spPr>
          <a:xfrm>
            <a:off x="8238744" y="1280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552944" y="205740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21A8"/>
                </a:solidFill>
              </a:rPr>
              <a:t>Hitung Skor &amp; Pilih Kategori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52944" y="2697480"/>
            <a:ext cx="2057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Kategori dengan skor tertinggi dipilih. Jika skor &lt; 0.3 → kategori "Umum" (General).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56064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</a:rPr>
              <a:t>▶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857232" y="1188720"/>
            <a:ext cx="2240280" cy="4114800"/>
          </a:xfrm>
          <a:prstGeom prst="roundRect">
            <a:avLst>
              <a:gd name="adj" fmla="val 4898"/>
            </a:avLst>
          </a:prstGeom>
          <a:solidFill>
            <a:srgbClr val="F3F4F6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634472" y="1280160"/>
            <a:ext cx="685800" cy="685800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33" name="Text 31"/>
          <p:cNvSpPr/>
          <p:nvPr/>
        </p:nvSpPr>
        <p:spPr>
          <a:xfrm>
            <a:off x="10634472" y="1280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948672" y="205740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2D12"/>
                </a:solidFill>
              </a:rPr>
              <a:t>Routing ke Divisi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948672" y="2697480"/>
            <a:ext cx="2057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Hasil kategori menentukan divisi tujuan. Tiket langsung muncul di dashboard admin divisi tersebut.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5486400"/>
            <a:ext cx="11612880" cy="82296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40AF"/>
                </a:solidFill>
              </a:rPr>
              <a:t>📌  Contoh Output: Input "Laptop tidak bisa nyala"  →  Kategori: IT  (confidence: 92%)  →  Routing ke Divisi IT  →  Kode Tiket: IT-005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Peran Pengguna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Siapa saja yang menggunakan sistem ini dan apa yang bisa mereka lakukan?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3840480" cy="5029200"/>
          </a:xfrm>
          <a:prstGeom prst="roundRect">
            <a:avLst>
              <a:gd name="adj" fmla="val 2857"/>
            </a:avLst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88720"/>
            <a:ext cx="3840480" cy="9144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88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👤  User (Karyawan)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86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</a:rPr>
              <a:t>✓  Membuat tiket keluhan/permintaan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944368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443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</a:rPr>
              <a:t>✓  Melampirkan foto bukti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602736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60273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</a:rPr>
              <a:t>✓  Memantau status tiket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4261104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26110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</a:rPr>
              <a:t>✓  Membaca komentar &amp; respons admin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4919472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9194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</a:rPr>
              <a:t>✓  Menutup tiket jika sudah puas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43400" y="1188720"/>
            <a:ext cx="3840480" cy="5029200"/>
          </a:xfrm>
          <a:prstGeom prst="roundRect">
            <a:avLst>
              <a:gd name="adj" fmla="val 2857"/>
            </a:avLst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1188720"/>
            <a:ext cx="3840480" cy="9144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1188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🛡️  Admin (Per Divisi)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80560" y="228600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286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✓  Melihat tiket masuk ke divisinya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80560" y="2944368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9443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✓  Memperbarui status: Diproses / Selesai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80560" y="3602736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60273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✓  Membalas tiket dengan komentar &amp; bukti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80560" y="4261104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26110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✓  Melihat statistik tiket divisi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80560" y="4919472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49194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✓  Export laporan PDF &amp; Excel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412480" y="1188720"/>
            <a:ext cx="3840480" cy="502920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12480" y="1188720"/>
            <a:ext cx="3840480" cy="914400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0" y="1188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👑  Super Admin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549640" y="228600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41080" y="2286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2D12"/>
                </a:solidFill>
              </a:rPr>
              <a:t>✓  Mengelola semua user &amp; admin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549640" y="2944368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41080" y="29443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2D12"/>
                </a:solidFill>
              </a:rPr>
              <a:t>✓  Melihat semua tiket lintas divisi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549640" y="3602736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41080" y="360273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2D12"/>
                </a:solidFill>
              </a:rPr>
              <a:t>✓  Monitor statistik seluruh sistem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549640" y="4261104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41080" y="426110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2D12"/>
                </a:solidFill>
              </a:rPr>
              <a:t>✓  Melihat galeri foto bukti seluruh tiket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549640" y="4919472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41080" y="49194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2D12"/>
                </a:solidFill>
              </a:rPr>
              <a:t>✓  Akses penuh ke semua fitur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Metode &amp; Hasil Pengujian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Bagaimana sistem diuji dan seberapa baik performanya?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5303520" cy="5029200"/>
          </a:xfrm>
          <a:prstGeom prst="roundRect">
            <a:avLst>
              <a:gd name="adj" fmla="val 2182"/>
            </a:avLst>
          </a:prstGeom>
          <a:solidFill>
            <a:srgbClr val="F3F4F6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88720"/>
            <a:ext cx="5303520" cy="457200"/>
          </a:xfrm>
          <a:prstGeom prst="roundRect">
            <a:avLst>
              <a:gd name="adj" fmla="val 16000"/>
            </a:avLst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88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Metode Pengujian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▸  Blackbox Testing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0848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Menguji semua fitur dari sisi pengguna — login, buat tiket, upload, ekspor laporan.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▸  Pengujian NLP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86207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30 sampel tiket dengan variasi kata kunci diuji untuk mengukur akurasi klasifikasi.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▸  Pengujian Peran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6393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Setiap peran (User, Admin, Super Admin) diuji sesuai hak aksesnya masing-masing.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▸  Pengujian Upload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41655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Upload foto profil &amp; bukti tiket diuji pada environment Vercel (cloud storage).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93776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▸  Pengujian Export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51937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Export PDF dan Excel diuji untuk memastikan nomor tiket dan data sudah benar.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0" y="1188720"/>
            <a:ext cx="6126480" cy="5029200"/>
          </a:xfrm>
          <a:prstGeom prst="roundRect">
            <a:avLst>
              <a:gd name="adj" fmla="val 2182"/>
            </a:avLst>
          </a:prstGeom>
          <a:solidFill>
            <a:srgbClr val="F3F4F6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1188720"/>
            <a:ext cx="6126480" cy="457200"/>
          </a:xfrm>
          <a:prstGeom prst="roundRect">
            <a:avLst>
              <a:gd name="adj" fmla="val 16000"/>
            </a:avLst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118872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Hasil Pengujian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18288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82880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Akurasi NLP Klasifikasi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332720" y="192024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1E40AF"/>
          </a:solidFill>
          <a:ln/>
        </p:spPr>
      </p:sp>
      <p:sp>
        <p:nvSpPr>
          <p:cNvPr id="26" name="Text 24"/>
          <p:cNvSpPr/>
          <p:nvPr/>
        </p:nvSpPr>
        <p:spPr>
          <a:xfrm>
            <a:off x="10332720" y="1920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80760" y="2532888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532888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Routing ke Divisi Tepat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332720" y="2624328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065F46"/>
          </a:solidFill>
          <a:ln/>
        </p:spPr>
      </p:sp>
      <p:sp>
        <p:nvSpPr>
          <p:cNvPr id="30" name="Text 28"/>
          <p:cNvSpPr/>
          <p:nvPr/>
        </p:nvSpPr>
        <p:spPr>
          <a:xfrm>
            <a:off x="10332720" y="26243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93%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3236976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236976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Semua Fitur Berfungsi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332720" y="3328416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7C2D12"/>
          </a:solidFill>
          <a:ln/>
        </p:spPr>
      </p:sp>
      <p:sp>
        <p:nvSpPr>
          <p:cNvPr id="34" name="Text 32"/>
          <p:cNvSpPr/>
          <p:nvPr/>
        </p:nvSpPr>
        <p:spPr>
          <a:xfrm>
            <a:off x="1033272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100%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0760" y="3941064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941064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Upload File (Cloud)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332720" y="4032504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0369A1"/>
          </a:solidFill>
          <a:ln/>
        </p:spPr>
      </p:sp>
      <p:sp>
        <p:nvSpPr>
          <p:cNvPr id="38" name="Text 36"/>
          <p:cNvSpPr/>
          <p:nvPr/>
        </p:nvSpPr>
        <p:spPr>
          <a:xfrm>
            <a:off x="10332720" y="40325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Berhasil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80760" y="4645152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4645152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Export PDF &amp; Excel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332720" y="4736592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6B21A8"/>
          </a:solidFill>
          <a:ln/>
        </p:spPr>
      </p:sp>
      <p:sp>
        <p:nvSpPr>
          <p:cNvPr id="42" name="Text 40"/>
          <p:cNvSpPr/>
          <p:nvPr/>
        </p:nvSpPr>
        <p:spPr>
          <a:xfrm>
            <a:off x="10332720" y="47365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Berhasil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80760" y="534924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534924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Notifikasi Real-Time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332720" y="544068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065F46"/>
          </a:solidFill>
          <a:ln/>
        </p:spPr>
      </p:sp>
      <p:sp>
        <p:nvSpPr>
          <p:cNvPr id="46" name="Text 44"/>
          <p:cNvSpPr/>
          <p:nvPr/>
        </p:nvSpPr>
        <p:spPr>
          <a:xfrm>
            <a:off x="10332720" y="54406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Berjalan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Analisis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Kelebihan, keterbatasan, dan potensi pengembangan sistem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43000"/>
            <a:ext cx="3657600" cy="512064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4300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43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Kelebihan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</a:rPr>
              <a:t>▸ Klasifikasi otomatis tanpa konfigurasi ML yang rumit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39572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</a:rPr>
              <a:t>▸ Mendukung Bahasa Indonesia &amp; Inggris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05409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</a:rPr>
              <a:t>▸ Sistem 3 level peran (User / Admin / Super Admin)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71246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</a:rPr>
              <a:t>▸ Upload file aman via Vercel Blob (cloud)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37083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</a:rPr>
              <a:t>▸ Ekspor laporan PDF &amp; Excel dengan nomor tiket terformat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50292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</a:rPr>
              <a:t>▸ Deployed online, dapat diakses dari mana saja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51960" y="1143000"/>
            <a:ext cx="3657600" cy="512064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114300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4251960" y="1143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⚠️  Keterbatasan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34840" y="17373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</a:rPr>
              <a:t>▸ Klasifikasi berbasis kata kunci, tidak belajar otomatis (non-ML)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34840" y="253288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</a:rPr>
              <a:t>▸ Akurasi bisa menurun untuk kalimat ambigu atau slang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34840" y="3328416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</a:rPr>
              <a:t>▸ Notifikasi menggunakan polling, bukan WebSocket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34840" y="4123944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</a:rPr>
              <a:t>▸ Belum ada email notifikasi langsung ke pengguna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34840" y="491947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</a:rPr>
              <a:t>▸ Kategori baru harus ditambah manual ke kamus kata kunci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29600" y="1143000"/>
            <a:ext cx="3840480" cy="5120640"/>
          </a:xfrm>
          <a:prstGeom prst="roundRect">
            <a:avLst>
              <a:gd name="adj" fmla="val 2857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114300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1E40A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1143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🚀  Pengembangan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0" y="17373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8A"/>
                </a:solidFill>
              </a:rPr>
              <a:t>▸ Integrasi machine learning (TF-IDF / BERT) untuk akurasi lebih tinggi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412480" y="239572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8A"/>
                </a:solidFill>
              </a:rPr>
              <a:t>▸ WebSocket untuk notifikasi real-time sejati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412480" y="305409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8A"/>
                </a:solidFill>
              </a:rPr>
              <a:t>▸ Mobile app (React Native) untuk kemudahan akses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12480" y="371246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8A"/>
                </a:solidFill>
              </a:rPr>
              <a:t>▸ Email notifikasi otomatis via SMTP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412480" y="437083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8A"/>
                </a:solidFill>
              </a:rPr>
              <a:t>▸ SLA tracking: batas waktu penanganan tiket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412480" y="5029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8A"/>
                </a:solidFill>
              </a:rPr>
              <a:t>▸ Analitik lanjut: tren masalah, heatmap divisi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12192000" cy="24688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-457200"/>
            <a:ext cx="2286000" cy="2286000"/>
          </a:xfrm>
          <a:prstGeom prst="ellipse">
            <a:avLst/>
          </a:prstGeom>
          <a:solidFill>
            <a:srgbClr val="2563EB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457200" y="5029200"/>
            <a:ext cx="1828800" cy="1828800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Kesimpulan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1D4ED8">
              <a:alpha val="8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🤖  NLP Terbukti Efektif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</a:rPr>
              <a:t>Sistem mampu mengklasifikasi tiket dengan akurasi 90% menggunakan metode keyword-based yang ringan namun cukup akurat.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1D4ED8">
              <a:alpha val="8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0972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⚡  Proses Lebih Cepat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4630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</a:rPr>
              <a:t>Routing otomatis menggantikan proses manual, sehingga tiket langsung sampai ke admin yang tepat tanpa penundaan.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60604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1D4ED8">
              <a:alpha val="8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974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🔒  Sistem Aman &amp; Terstruktur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</a:rPr>
              <a:t>Autentikasi JWT, enkripsi password, dan sistem 3 peran memastikan data dan akses tetap aman.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60604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1D4ED8">
              <a:alpha val="8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6974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🌐  Siap Digunakan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</a:rPr>
              <a:t>Sistem sudah di-deploy di Vercel, dapat diakses online 24/7 oleh seluruh pengguna dari mana saja.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0" y="4709160"/>
            <a:ext cx="8503920" cy="1234440"/>
          </a:xfrm>
          <a:prstGeom prst="roundRect">
            <a:avLst>
              <a:gd name="adj" fmla="val 8889"/>
            </a:avLst>
          </a:prstGeom>
          <a:solidFill>
            <a:srgbClr val="1E3A8A">
              <a:alpha val="8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4709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Terima Kasih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828800" y="52120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Sistem Helpdesk Berbasis NLP  |  Dwiky Setiawan  |  2026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608076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E40A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6080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Next.js 15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81528" y="608076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E40A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81528" y="6080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React 19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40096" y="608076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E40A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0096" y="6080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MySQL / TiDB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598664" y="608076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E40A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98664" y="6080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NLP Classifier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857232" y="608076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E40A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57232" y="6080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Vercel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2026-06-06T03:15:49Z</dcterms:created>
  <dcterms:modified xsi:type="dcterms:W3CDTF">2026-06-06T03:15:49Z</dcterms:modified>
</cp:coreProperties>
</file>